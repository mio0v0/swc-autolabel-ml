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4EFE6"/>
                </a:solidFill>
                <a:latin typeface="Calibri"/>
              </a:rPr>
              <a:t>SWC-STUDIO</a:t>
            </a:r>
            <a:endParaRPr sz="1200" b="1" i="0">
              <a:solidFill>
                <a:srgbClr val="F4EFE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Georgia" panose="02040502050405090303"/>
              </a:rPr>
              <a:t>Auto-Labeling Neurons</a:t>
            </a:r>
            <a:endParaRPr sz="64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1">
                <a:solidFill>
                  <a:srgbClr val="E07856"/>
                </a:solidFill>
                <a:latin typeface="Georgia" panose="02040502050405090303"/>
              </a:rPr>
              <a:t>A 3-stage pipeline for parsing neuron morphology</a:t>
            </a:r>
            <a:endParaRPr sz="2600" b="0" i="1">
              <a:solidFill>
                <a:srgbClr val="E07856"/>
              </a:solidFill>
              <a:latin typeface="Georgia" panose="0204050205040509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4023360"/>
            <a:ext cx="1371600" cy="36576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F4EFE6"/>
                </a:solidFill>
                <a:latin typeface="Calibri"/>
              </a:rPr>
              <a:t>Translating raw 3D neuron reconstructions into labeled morphological parts</a:t>
            </a:r>
            <a:endParaRPr sz="1600" b="0" i="0">
              <a:solidFill>
                <a:srgbClr val="F4EFE6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Latest evaluation  ·  1,737 cells  ·  pooled F1 0.98</a:t>
            </a:r>
            <a:endParaRPr sz="1300" b="0" i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INTRODUCING SWC-STUDIO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A toolkit for working with neuron morphology files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A4E"/>
                </a:solidFill>
                <a:latin typeface="Calibri"/>
              </a:rPr>
              <a:t>SWC-Studio</a:t>
            </a:r>
            <a:endParaRPr sz="15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500" b="0" i="0">
                <a:solidFill>
                  <a:srgbClr val="141B2D"/>
                </a:solidFill>
                <a:latin typeface="Calibri"/>
              </a:rPr>
              <a:t> is a desktop, CLI, and Python toolkit for inspecting neuron reconstructions, finding structural or annotation problems, repairing them, and running repeatable morphology workflows from one shared backend.</a:t>
            </a:r>
            <a:endParaRPr sz="15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2834640"/>
            <a:ext cx="36576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3657600" cy="9144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2A4E"/>
                </a:solidFill>
                <a:latin typeface="Georgia" panose="02040502050405090303"/>
              </a:rPr>
              <a:t>Desktop GUI</a:t>
            </a:r>
            <a:endParaRPr sz="18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E07856"/>
                </a:solidFill>
                <a:latin typeface="Consolas"/>
              </a:rPr>
              <a:t>swcstudio-gui</a:t>
            </a:r>
            <a:endParaRPr sz="1100" b="0" i="1">
              <a:solidFill>
                <a:srgbClr val="E07856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Open a file, inspect issues visually, apply repairs, save the result.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34840" y="2834640"/>
            <a:ext cx="36576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834640"/>
            <a:ext cx="3657600" cy="91440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2A4E"/>
                </a:solidFill>
                <a:latin typeface="Georgia" panose="02040502050405090303"/>
              </a:rPr>
              <a:t>CLI</a:t>
            </a:r>
            <a:endParaRPr sz="18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3440" y="34747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A7C7E"/>
                </a:solidFill>
                <a:latin typeface="Consolas"/>
              </a:rPr>
              <a:t>swcstudio</a:t>
            </a:r>
            <a:endParaRPr sz="1100" b="0" i="1">
              <a:solidFill>
                <a:srgbClr val="4A7C7E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63440" y="38404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Batch-process whole folders. Same logic as the GUI, scriptable.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0" y="2834640"/>
            <a:ext cx="36576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834640"/>
            <a:ext cx="3657600" cy="91440"/>
          </a:xfrm>
          <a:prstGeom prst="rect">
            <a:avLst/>
          </a:prstGeom>
          <a:solidFill>
            <a:srgbClr val="C9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017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2A4E"/>
                </a:solidFill>
                <a:latin typeface="Georgia" panose="02040502050405090303"/>
              </a:rPr>
              <a:t>Python library</a:t>
            </a:r>
            <a:endParaRPr sz="18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58200" y="34747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C99A3E"/>
                </a:solidFill>
                <a:latin typeface="Consolas"/>
              </a:rPr>
              <a:t>swcstudio</a:t>
            </a:r>
            <a:endParaRPr sz="1100" b="0" i="1">
              <a:solidFill>
                <a:srgbClr val="C99A3E"/>
              </a:solidFill>
              <a:latin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58200" y="38404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Import the same backend in your own analysis pipelines.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4754880"/>
            <a:ext cx="67665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754880"/>
            <a:ext cx="91440" cy="18288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92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CORE CAPABILITIES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5257800"/>
            <a:ext cx="6400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•  Issue-driven SWC validation and repair</a:t>
            </a:r>
            <a:endParaRPr sz="12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200" b="1" i="0">
                <a:solidFill>
                  <a:srgbClr val="141B2D"/>
                </a:solidFill>
                <a:latin typeface="Calibri"/>
              </a:rPr>
              <a:t>•  Rule-based auto-labeling with automatic apical detection</a:t>
            </a:r>
            <a:endParaRPr sz="1200" b="1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•  Radii cleaning and manual geometry editing</a:t>
            </a:r>
            <a:endParaRPr sz="12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•  Batch processing across folders</a:t>
            </a:r>
            <a:endParaRPr sz="12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•  Shared GUI, CLI, and Python surface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589520" y="4754880"/>
            <a:ext cx="4023360" cy="18288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4892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TODAY'S FOCUS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18120" y="5257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 panose="02040502050405090303"/>
              </a:rPr>
              <a:t>The auto-labeling engine</a:t>
            </a:r>
            <a:endParaRPr sz="18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18120" y="580644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F4EFE6"/>
                </a:solidFill>
                <a:latin typeface="Calibri"/>
              </a:rPr>
              <a:t>A 3-stage hybrid pipeline that combines machine learning with biology rules to label every point in a neuron — soma, axon, basal, or apical.</a:t>
            </a:r>
            <a:endParaRPr sz="1200" b="0" i="1">
              <a:solidFill>
                <a:srgbClr val="F4EFE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THE PROBLEM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Why we built this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6576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657600" cy="9144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100,000+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E07856"/>
                </a:solidFill>
                <a:latin typeface="Calibri"/>
              </a:rPr>
              <a:t>3D neuron reconstructions in public databases</a:t>
            </a:r>
            <a:endParaRPr sz="1400" b="1" i="1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Neuroscientists trace neurons under the microscope. Each trace becomes a 3D point cloud — an SWC file.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80560" y="1828800"/>
            <a:ext cx="36576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3657600" cy="91440"/>
          </a:xfrm>
          <a:prstGeom prst="rect">
            <a:avLst/>
          </a:prstGeom>
          <a:solidFill>
            <a:srgbClr val="C9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19456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Many missing labels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54880" y="31089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C99A3E"/>
                </a:solidFill>
                <a:latin typeface="Calibri"/>
              </a:rPr>
              <a:t>or labels that disagree between labs</a:t>
            </a:r>
            <a:endParaRPr sz="1400" b="1" i="1">
              <a:solidFill>
                <a:srgbClr val="C99A3E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54880" y="384048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Some files only label the cell body. Others mark axon vs dendrite but disagree on apical. No single standard.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21040" y="1828800"/>
            <a:ext cx="36576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3657600" cy="91440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19456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Manual relabeling = months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31089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4A7C7E"/>
                </a:solidFill>
                <a:latin typeface="Calibri"/>
              </a:rPr>
              <a:t>per dataset, not scalable</a:t>
            </a:r>
            <a:endParaRPr sz="1400" b="1" i="1">
              <a:solidFill>
                <a:srgbClr val="4A7C7E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95360" y="384048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An expert can re-label one cell in 10–30 minutes. Doing 1,000 cells by hand is a full project on its own.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6263640"/>
            <a:ext cx="10972800" cy="54864"/>
          </a:xfrm>
          <a:prstGeom prst="rect">
            <a:avLst/>
          </a:prstGeom>
          <a:solidFill>
            <a:srgbClr val="D9D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07856"/>
                </a:solidFill>
                <a:latin typeface="Calibri"/>
              </a:rPr>
              <a:t>Our solution: </a:t>
            </a:r>
            <a:endParaRPr sz="1400" b="1" i="0">
              <a:solidFill>
                <a:srgbClr val="E07856"/>
              </a:solidFill>
              <a:latin typeface="Calibri"/>
            </a:endParaRPr>
          </a:p>
          <a:p>
            <a:pPr algn="l"/>
            <a:r>
              <a:rPr sz="1400" b="0" i="1">
                <a:solidFill>
                  <a:srgbClr val="1B2A4E"/>
                </a:solidFill>
                <a:latin typeface="Calibri"/>
              </a:rPr>
              <a:t>a fully automatic 3-stage pipeline that reads any SWC file and outputs a per-point label — soma, axon, dendrite, or apical.</a:t>
            </a:r>
            <a:endParaRPr sz="1400" b="0" i="1">
              <a:solidFill>
                <a:srgbClr val="1B2A4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THE DATASET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What we trained and tested on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3774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377440" cy="9144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B2A4E"/>
                </a:solidFill>
                <a:latin typeface="Georgia" panose="02040502050405090303"/>
              </a:rPr>
              <a:t>1,737</a:t>
            </a:r>
            <a:endParaRPr sz="36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labeled cells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00400" y="1828800"/>
            <a:ext cx="23774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828800"/>
            <a:ext cx="2377440" cy="91440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1031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B2A4E"/>
                </a:solidFill>
                <a:latin typeface="Georgia" panose="02040502050405090303"/>
              </a:rPr>
              <a:t>932</a:t>
            </a:r>
            <a:endParaRPr sz="36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83280" y="27432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pyramidal cells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60720" y="1828800"/>
            <a:ext cx="23774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1828800"/>
            <a:ext cx="2377440" cy="91440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1031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B2A4E"/>
                </a:solidFill>
                <a:latin typeface="Georgia" panose="02040502050405090303"/>
              </a:rPr>
              <a:t>805</a:t>
            </a:r>
            <a:endParaRPr sz="36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0" y="27432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interneurons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23774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828800"/>
            <a:ext cx="2377440" cy="9144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1031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B2A4E"/>
                </a:solidFill>
                <a:latin typeface="Georgia" panose="02040502050405090303"/>
              </a:rPr>
              <a:t>5.4 M</a:t>
            </a:r>
            <a:endParaRPr sz="36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03920" y="27432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individual points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3657600"/>
            <a:ext cx="64008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57600"/>
            <a:ext cx="91440" cy="274320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4048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WHERE THE DATA COMES FROM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4251960"/>
            <a:ext cx="59436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E"/>
                </a:solidFill>
                <a:latin typeface="Calibri"/>
              </a:rPr>
              <a:t>NeuroMorpho.org</a:t>
            </a:r>
            <a:endParaRPr sz="13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    Public archive — &gt; 250,000 reconstructions across labs</a:t>
            </a:r>
            <a:endParaRPr sz="12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300" b="1" i="0">
                <a:solidFill>
                  <a:srgbClr val="1B2A4E"/>
                </a:solidFill>
                <a:latin typeface="Calibri"/>
              </a:rPr>
              <a:t>Allen Institute</a:t>
            </a:r>
            <a:endParaRPr sz="13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    Allen Cell Types Database (mouse cortex)</a:t>
            </a:r>
            <a:endParaRPr sz="12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300" b="1" i="0">
                <a:solidFill>
                  <a:srgbClr val="1B2A4E"/>
                </a:solidFill>
                <a:latin typeface="Calibri"/>
              </a:rPr>
              <a:t>Custom lab reconstructions</a:t>
            </a:r>
            <a:endParaRPr sz="13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    Internal benchmark cells with curated labels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223760" y="3657600"/>
            <a:ext cx="43891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23760" y="3657600"/>
            <a:ext cx="91440" cy="2743200"/>
          </a:xfrm>
          <a:prstGeom prst="rect">
            <a:avLst/>
          </a:prstGeom>
          <a:solidFill>
            <a:srgbClr val="C9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38404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99A3E"/>
                </a:solidFill>
                <a:latin typeface="Calibri"/>
              </a:rPr>
              <a:t>WHAT AN SWC FILE LOOKS LIKE</a:t>
            </a:r>
            <a:endParaRPr sz="1100" b="1" i="0">
              <a:solidFill>
                <a:srgbClr val="C99A3E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52360" y="42976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141B2D"/>
                </a:solidFill>
                <a:latin typeface="Calibri"/>
              </a:rPr>
              <a:t>Each row = one 3D point on the neuron</a:t>
            </a:r>
            <a:endParaRPr sz="1200" b="0" i="1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52360" y="4709160"/>
            <a:ext cx="4023360" cy="109728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475488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onsolas"/>
              </a:rPr>
              <a:t>id   type    x     y     z    r   parent</a:t>
            </a:r>
            <a:endParaRPr sz="1100" b="1" i="0">
              <a:solidFill>
                <a:srgbClr val="1B2A4E"/>
              </a:solidFill>
              <a:latin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89520" y="507492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1     1    0.0   0.0   0.0  4.5    -1</a:t>
            </a:r>
            <a:endParaRPr sz="1100" b="0" i="0">
              <a:solidFill>
                <a:srgbClr val="64748B"/>
              </a:solidFill>
              <a:latin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89520" y="534924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2     3    1.2   0.0  -0.5  0.8     1</a:t>
            </a:r>
            <a:endParaRPr sz="1100" b="0" i="0">
              <a:solidFill>
                <a:srgbClr val="64748B"/>
              </a:solidFill>
              <a:latin typeface="Consola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52360" y="58978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141B2D"/>
                </a:solidFill>
                <a:latin typeface="Calibri"/>
              </a:rPr>
              <a:t>type:  1=soma   2=axon   3=basal   4=apical</a:t>
            </a:r>
            <a:endParaRPr sz="1200" b="0" i="1">
              <a:solidFill>
                <a:srgbClr val="141B2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THE PIPELINE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How a raw cell becomes a labeled cell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320040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91440" cy="310896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E07856"/>
                </a:solidFill>
                <a:latin typeface="Georgia" panose="02040502050405090303"/>
              </a:rPr>
              <a:t>01</a:t>
            </a:r>
            <a:endParaRPr sz="3600" b="1" i="0">
              <a:solidFill>
                <a:srgbClr val="E07856"/>
              </a:solidFill>
              <a:latin typeface="Georgia" panose="0204050205040509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STAGE 1</a:t>
            </a:r>
            <a:endParaRPr sz="11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4E"/>
                </a:solidFill>
                <a:latin typeface="Georgia" panose="02040502050405090303"/>
              </a:rPr>
              <a:t>What kind of cell?</a:t>
            </a:r>
            <a:endParaRPr sz="22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Decide whether the whole cell is pyramidal or interneuron.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320040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011680"/>
            <a:ext cx="91440" cy="3108960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4A7C7E"/>
                </a:solidFill>
                <a:latin typeface="Georgia" panose="02040502050405090303"/>
              </a:rPr>
              <a:t>02</a:t>
            </a:r>
            <a:endParaRPr sz="3600" b="1" i="0">
              <a:solidFill>
                <a:srgbClr val="4A7C7E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STAGE 2</a:t>
            </a:r>
            <a:endParaRPr sz="11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329184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4E"/>
                </a:solidFill>
                <a:latin typeface="Georgia" panose="02040502050405090303"/>
              </a:rPr>
              <a:t>What is each branch?</a:t>
            </a:r>
            <a:endParaRPr sz="22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Classify every branch as axon, basal dendrite, or apical dendrite.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955280" y="2011680"/>
            <a:ext cx="320040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2011680"/>
            <a:ext cx="91440" cy="3108960"/>
          </a:xfrm>
          <a:prstGeom prst="rect">
            <a:avLst/>
          </a:prstGeom>
          <a:solidFill>
            <a:srgbClr val="C9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2402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C99A3E"/>
                </a:solidFill>
                <a:latin typeface="Georgia" panose="02040502050405090303"/>
              </a:rPr>
              <a:t>03</a:t>
            </a:r>
            <a:endParaRPr sz="3600" b="1" i="0">
              <a:solidFill>
                <a:srgbClr val="C99A3E"/>
              </a:solidFill>
              <a:latin typeface="Georgia" panose="020405020504050903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0" y="29260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STAGE 3</a:t>
            </a:r>
            <a:endParaRPr sz="11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0" y="329184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4E"/>
                </a:solidFill>
                <a:latin typeface="Georgia" panose="02040502050405090303"/>
              </a:rPr>
              <a:t>Apply biology rules</a:t>
            </a:r>
            <a:endParaRPr sz="22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0" y="411480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Topology refinement — enforce one apical, consistent subtrees, etc.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3886200" y="3401568"/>
            <a:ext cx="365760" cy="32918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543800" y="3401568"/>
            <a:ext cx="365760" cy="32918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Pipeline as a whole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A4E"/>
                </a:solidFill>
                <a:latin typeface="Calibri"/>
              </a:rPr>
              <a:t>Input: </a:t>
            </a:r>
            <a:endParaRPr sz="14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141B2D"/>
                </a:solidFill>
                <a:latin typeface="Calibri"/>
              </a:rPr>
              <a:t>an unlabeled SWC file (just 3D coordinates and parent pointers).      </a:t>
            </a:r>
            <a:endParaRPr sz="14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400" b="1" i="0">
                <a:solidFill>
                  <a:srgbClr val="1B2A4E"/>
                </a:solidFill>
                <a:latin typeface="Calibri"/>
              </a:rPr>
              <a:t>Output: </a:t>
            </a:r>
            <a:endParaRPr sz="14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141B2D"/>
                </a:solidFill>
                <a:latin typeface="Calibri"/>
              </a:rPr>
              <a:t>the same file, with every point labeled as soma, axon, basal, or apical.</a:t>
            </a:r>
            <a:endParaRPr sz="1400" b="0" i="0">
              <a:solidFill>
                <a:srgbClr val="141B2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STAGE 1  ·  CELL-TYPE DETECTION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What kind of cell are we looking at?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What it does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6400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41B2D"/>
                </a:solidFill>
                <a:latin typeface="Calibri"/>
              </a:rPr>
              <a:t>Reads the whole-cell shape of the neuron and predicts: is this a </a:t>
            </a:r>
            <a:endParaRPr sz="14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400" b="1" i="0">
                <a:solidFill>
                  <a:srgbClr val="1B2A4E"/>
                </a:solidFill>
                <a:latin typeface="Calibri"/>
              </a:rPr>
              <a:t>pyramidal</a:t>
            </a:r>
            <a:endParaRPr sz="14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141B2D"/>
                </a:solidFill>
                <a:latin typeface="Calibri"/>
              </a:rPr>
              <a:t> or an </a:t>
            </a:r>
            <a:endParaRPr sz="14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400" b="1" i="0">
                <a:solidFill>
                  <a:srgbClr val="1B2A4E"/>
                </a:solidFill>
                <a:latin typeface="Calibri"/>
              </a:rPr>
              <a:t>interneuron</a:t>
            </a:r>
            <a:endParaRPr sz="14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141B2D"/>
                </a:solidFill>
                <a:latin typeface="Calibri"/>
              </a:rPr>
              <a:t>?  This decision controls which labels Stage 2 is allowed to use — interneurons have no apical dendrite.</a:t>
            </a:r>
            <a:endParaRPr sz="14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How it decides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64008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41B2D"/>
                </a:solidFill>
                <a:latin typeface="Calibri"/>
              </a:rPr>
              <a:t>Computes 49 shape descriptors of the whole cell. Categories:</a:t>
            </a:r>
            <a:endParaRPr sz="13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•  Size and counts  (branch points, terminals, subtrees)</a:t>
            </a:r>
            <a:endParaRPr sz="12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•  Spatial extent  (how far the cell reaches in x, y, z)</a:t>
            </a:r>
            <a:endParaRPr sz="12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200" b="1" i="0">
                <a:solidFill>
                  <a:srgbClr val="141B2D"/>
                </a:solidFill>
                <a:latin typeface="Calibri"/>
              </a:rPr>
              <a:t>•  Principal-axis (PCA) features  — the cell's intrinsic up/down direction</a:t>
            </a:r>
            <a:endParaRPr sz="1200" b="1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•  Branching shape  (Strahler order, Sholl analysis, subtree ratios)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98079" y="1828800"/>
            <a:ext cx="4114800" cy="42976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399" y="20116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NEW  ·  SOFT HANDOFF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399" y="237744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 panose="02040502050405090303"/>
              </a:rPr>
              <a:t>When Stage 1 isn't sure</a:t>
            </a:r>
            <a:endParaRPr sz="22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399" y="3246120"/>
            <a:ext cx="3657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4EFE6"/>
                </a:solidFill>
                <a:latin typeface="Calibri"/>
              </a:rPr>
              <a:t>If the model's confidence is below 65%, we don't commit to one cell type.</a:t>
            </a:r>
            <a:endParaRPr sz="1200" b="0" i="0">
              <a:solidFill>
                <a:srgbClr val="F4EFE6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F4EFE6"/>
                </a:solidFill>
                <a:latin typeface="Calibri"/>
              </a:rPr>
              <a:t>Instead, the rest of the pipeline runs twice — once treating the cell as pyramidal, once as interneuron — and we keep whichever produces sharper, more confident predictions.</a:t>
            </a:r>
            <a:endParaRPr sz="1200" b="0" i="0">
              <a:solidFill>
                <a:srgbClr val="F4EFE6"/>
              </a:solidFill>
              <a:latin typeface="Calibri"/>
            </a:endParaRPr>
          </a:p>
          <a:p>
            <a:pPr algn="l"/>
            <a:r>
              <a:rPr sz="1200" b="1" i="1">
                <a:solidFill>
                  <a:srgbClr val="FFFFFF"/>
                </a:solidFill>
                <a:latin typeface="Calibri"/>
              </a:rPr>
              <a:t>This rescues borderline cells (e.g. flat slice-prep pyramidals) that would otherwise be locked into the wrong path.</a:t>
            </a:r>
            <a:endParaRPr sz="1200" b="1" i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6146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Latest accuracy: </a:t>
            </a:r>
            <a:endParaRPr sz="12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400" b="1" i="0">
                <a:solidFill>
                  <a:srgbClr val="E07856"/>
                </a:solidFill>
                <a:latin typeface="Calibri"/>
              </a:rPr>
              <a:t>98.2%</a:t>
            </a:r>
            <a:endParaRPr sz="1400" b="1" i="0">
              <a:solidFill>
                <a:srgbClr val="E07856"/>
              </a:solidFill>
              <a:latin typeface="Calibri"/>
            </a:endParaRPr>
          </a:p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   ·   trained with 5-fold cross-validation on 1,737 cells</a:t>
            </a:r>
            <a:endParaRPr sz="1200" b="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STAGE 1  ·  IN DETAIL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All 49 whole-cell features, by category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703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73152" cy="201168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Size &amp; counts (7)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n_nodes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n_root_nodes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n_branch_points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n_terminals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n_primary_subtrees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branch_point_ratio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terminal_ratio</a:t>
            </a:r>
            <a:endParaRPr sz="11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3703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828800"/>
            <a:ext cx="73152" cy="2011680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Path &amp; distance (7)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max / mean / std path length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max / mean / std radial distance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path / radial ratio (tortuosity)</a:t>
            </a:r>
            <a:endParaRPr sz="11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21040" y="1828800"/>
            <a:ext cx="3703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828800"/>
            <a:ext cx="73152" cy="2011680"/>
          </a:xfrm>
          <a:prstGeom prst="rect">
            <a:avLst/>
          </a:prstGeom>
          <a:solidFill>
            <a:srgbClr val="C9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6596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Radius (4)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03920" y="233172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mean_radius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std_radius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max_radius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radius_cv  (coefficient of variation)</a:t>
            </a:r>
            <a:endParaRPr sz="11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4023360"/>
            <a:ext cx="3703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23360"/>
            <a:ext cx="73152" cy="201168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Spatial extent (10)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452628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z_span, z_asymmetry, z_max above/below soma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x_span, y_span, xy_aspect_ratio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planarity, linearity, thickness_ratio</a:t>
            </a:r>
            <a:endParaRPr sz="11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480560" y="4023360"/>
            <a:ext cx="3703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73152" cy="2011680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16052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Subtree &amp; topology (12)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63440" y="452628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max / min / std primary subtree size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max / std primary subtree path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max subtree size &amp; path ratios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max &amp; mean Strahler order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Sholl: max intersections, peak, decay</a:t>
            </a:r>
            <a:endParaRPr sz="11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321040" y="4023360"/>
            <a:ext cx="3703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4023360"/>
            <a:ext cx="73152" cy="201168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16052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Principal-axis (PCA) — NEW (7)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03920" y="452628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pc1_span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pc1_asymmetry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pc1_max above / below soma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pc1_radial_max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subtree_pc1_concentration</a:t>
            </a:r>
            <a:endParaRPr sz="11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subtree_pc1_top_alignment</a:t>
            </a:r>
            <a:endParaRPr sz="11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Total: 49 file-level features.   </a:t>
            </a:r>
            <a:endParaRPr sz="12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200" b="0" i="1">
                <a:solidFill>
                  <a:srgbClr val="141B2D"/>
                </a:solidFill>
                <a:latin typeface="Calibri"/>
              </a:rPr>
              <a:t>PCA features were added April 2026 to make the model robust to slice-prep distortion and rotated coordinate frames.</a:t>
            </a:r>
            <a:endParaRPr sz="1200" b="0" i="1">
              <a:solidFill>
                <a:srgbClr val="141B2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STAGE 2  ·  PER-BRANCH LABELING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What is each branch of this cell?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What it does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41B2D"/>
                </a:solidFill>
                <a:latin typeface="Calibri"/>
              </a:rPr>
              <a:t>The cell is split into </a:t>
            </a:r>
            <a:endParaRPr sz="14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400" b="1" i="0">
                <a:solidFill>
                  <a:srgbClr val="1B2A4E"/>
                </a:solidFill>
                <a:latin typeface="Calibri"/>
              </a:rPr>
              <a:t>branches</a:t>
            </a:r>
            <a:endParaRPr sz="14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141B2D"/>
                </a:solidFill>
                <a:latin typeface="Calibri"/>
              </a:rPr>
              <a:t> — segments between branch points. For each branch, a machine-learning model predicts a label: </a:t>
            </a:r>
            <a:endParaRPr sz="14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400" b="1" i="0">
                <a:solidFill>
                  <a:srgbClr val="4A7C7E"/>
                </a:solidFill>
                <a:latin typeface="Calibri"/>
              </a:rPr>
              <a:t>axon, basal dendrite, </a:t>
            </a:r>
            <a:endParaRPr sz="1400" b="1" i="0">
              <a:solidFill>
                <a:srgbClr val="4A7C7E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141B2D"/>
                </a:solidFill>
                <a:latin typeface="Calibri"/>
              </a:rPr>
              <a:t>or </a:t>
            </a:r>
            <a:endParaRPr sz="14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400" b="1" i="0">
                <a:solidFill>
                  <a:srgbClr val="E07856"/>
                </a:solidFill>
                <a:latin typeface="Calibri"/>
              </a:rPr>
              <a:t>apical dendrite</a:t>
            </a:r>
            <a:endParaRPr sz="1400" b="1" i="0">
              <a:solidFill>
                <a:srgbClr val="E07856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141B2D"/>
                </a:solidFill>
                <a:latin typeface="Calibri"/>
              </a:rPr>
              <a:t>.  Each prediction comes with a confidence score (0–1).</a:t>
            </a:r>
            <a:endParaRPr sz="14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40233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023360"/>
            <a:ext cx="91440" cy="2194560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062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E"/>
                </a:solidFill>
                <a:latin typeface="Georgia" panose="02040502050405090303"/>
              </a:rPr>
              <a:t>57 features per branch</a:t>
            </a:r>
            <a:endParaRPr sz="16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Length, tortuosity, depth from soma, neighbors' radii, principal-axis alignment, branching rate, etc.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34840" y="40233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4023360"/>
            <a:ext cx="91440" cy="219456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42062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E"/>
                </a:solidFill>
                <a:latin typeface="Georgia" panose="02040502050405090303"/>
              </a:rPr>
              <a:t>Cell-type-conditioned model</a:t>
            </a:r>
            <a:endParaRPr sz="16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3440" y="489204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Pyramidal cells use a model trained only on pyramidals. Interneurons use a separate model. Avoids confusion.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0" y="40233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4023360"/>
            <a:ext cx="91440" cy="2194560"/>
          </a:xfrm>
          <a:prstGeom prst="rect">
            <a:avLst/>
          </a:prstGeom>
          <a:solidFill>
            <a:srgbClr val="C9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42062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E"/>
                </a:solidFill>
                <a:latin typeface="Georgia" panose="02040502050405090303"/>
              </a:rPr>
              <a:t>Confidence per branch</a:t>
            </a:r>
            <a:endParaRPr sz="16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58200" y="489204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Each label comes with a probability. Stage 3 uses these to resolve conflicts and override low-confidence calls.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Latest pooled F1: </a:t>
            </a:r>
            <a:endParaRPr sz="12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200" b="1" i="0">
                <a:solidFill>
                  <a:srgbClr val="E07856"/>
                </a:solidFill>
                <a:latin typeface="Calibri"/>
              </a:rPr>
              <a:t>axon 0.997  ·  basal 0.97  ·  apical 0.94</a:t>
            </a:r>
            <a:endParaRPr sz="1200" b="1" i="0">
              <a:solidFill>
                <a:srgbClr val="E0785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STAGE 2  ·  IN DETAIL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What the model sees about each branch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73152" cy="141732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Branch geometry (12)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2423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Length, straightness (persistence), node count, radius statistics, taper, branchiness.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56432" y="182880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828800"/>
            <a:ext cx="73152" cy="1417320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9385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Position vs. soma (4)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39312" y="2331720"/>
            <a:ext cx="2423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Path &amp; Euclidean distance to soma, height above soma, vertical span within the branch.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72784" y="182880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1828800"/>
            <a:ext cx="73152" cy="1417320"/>
          </a:xfrm>
          <a:prstGeom prst="rect">
            <a:avLst/>
          </a:prstGeom>
          <a:solidFill>
            <a:srgbClr val="C9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9385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Subtree &amp; order (4)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55664" y="2331720"/>
            <a:ext cx="2423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Subtree size, depth, longest path, branch order (depth from soma).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089136" y="182880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89136" y="1828800"/>
            <a:ext cx="73152" cy="141732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19385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Parent / sibling (4)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272016" y="2331720"/>
            <a:ext cx="2423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Parent radius, radius ratio, sibling count, whether the branch starts at the soma.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3364992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364992"/>
            <a:ext cx="73152" cy="1417320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47472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Cell-normalized (7)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60" y="3867912"/>
            <a:ext cx="2423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Branch features divided by cell-level maxima, plus cell-type one-hot flags.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456432" y="3364992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56432" y="3364992"/>
            <a:ext cx="73152" cy="141732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9312" y="347472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Apical-vs-basal (10)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39312" y="3867912"/>
            <a:ext cx="2423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Subtree z-rank, polar angles, trunk-primary flag, vertical/horizontal span ratio, longest-subtree indicator.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72784" y="3364992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72784" y="3364992"/>
            <a:ext cx="73152" cy="1417320"/>
          </a:xfrm>
          <a:prstGeom prst="rect">
            <a:avLst/>
          </a:prstGeom>
          <a:solidFill>
            <a:srgbClr val="C9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347472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Axon signatures (4)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55664" y="3867912"/>
            <a:ext cx="2423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Starts-at-soma flag, radius drop at anchor, thin-segment fraction, minimum radius downstream.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089136" y="3364992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89136" y="3364992"/>
            <a:ext cx="73152" cy="1417320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347472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Multi-scale local (4)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272016" y="3867912"/>
            <a:ext cx="2423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Mean radius and straightness over the proximal vs. distal third of the branch.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40080" y="4901184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4901184"/>
            <a:ext cx="73152" cy="141732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01091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Principal-axis (PCA) — NEW (5)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2960" y="5404104"/>
            <a:ext cx="2423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Cell's intrinsic up direction. Projection, polar angle, alignment strength, subtree projection &amp; rank.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456432" y="4901184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56432" y="4901184"/>
            <a:ext cx="73152" cy="1417320"/>
          </a:xfrm>
          <a:prstGeom prst="rect">
            <a:avLst/>
          </a:prstGeom>
          <a:solidFill>
            <a:srgbClr val="C9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39312" y="501091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Branching-rate — NEW (3)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39312" y="5404104"/>
            <a:ext cx="2423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Bifurcations per micron, mean internode distance, subtree-level branching density.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Total: 57 raw features per branch + 7 augmented from the subtree-owner model = 64 inputs.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STAGE 3  ·  TOPOLOGY REFINEMENT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Apply biology rules the ML can't learn alone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Why a final rule layer?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41B2D"/>
                </a:solidFill>
                <a:latin typeface="Calibri"/>
              </a:rPr>
              <a:t>Stage 2 looks at one branch at a time and can flip-flop within a single dendrite. Stage 3 enforces simple biological constraints across the whole cell — fixing many of these errors.</a:t>
            </a:r>
            <a:endParaRPr sz="1400" b="0" i="1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3200400"/>
            <a:ext cx="54864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200400"/>
            <a:ext cx="91440" cy="150876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E"/>
                </a:solidFill>
                <a:latin typeface="Georgia" panose="02040502050405090303"/>
              </a:rPr>
              <a:t>At most one apical</a:t>
            </a:r>
            <a:endParaRPr sz="16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A pyramidal cell has exactly one apical dendrite. If multiple subtrees are predicted apical, keep the strongest and demote the others.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09360" y="3200400"/>
            <a:ext cx="54864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3200400"/>
            <a:ext cx="91440" cy="1508760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3375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E"/>
                </a:solidFill>
                <a:latin typeface="Georgia" panose="02040502050405090303"/>
              </a:rPr>
              <a:t>Subtree consistency</a:t>
            </a:r>
            <a:endParaRPr sz="16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37960" y="379476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All branches in the same primary subtree should agree on a label. Use majority voting weighted by confidence.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4892040"/>
            <a:ext cx="54864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892040"/>
            <a:ext cx="91440" cy="1508760"/>
          </a:xfrm>
          <a:prstGeom prst="rect">
            <a:avLst/>
          </a:prstGeom>
          <a:solidFill>
            <a:srgbClr val="C9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E"/>
                </a:solidFill>
                <a:latin typeface="Georgia" panose="02040502050405090303"/>
              </a:rPr>
              <a:t>PCA tie-break</a:t>
            </a:r>
            <a:endParaRPr sz="16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When picking the apical winner, prefer the subtree that aligns with the cell's principal axis (the natural up direction).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09360" y="4892040"/>
            <a:ext cx="54864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892040"/>
            <a:ext cx="91440" cy="150876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502920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E"/>
                </a:solidFill>
                <a:latin typeface="Georgia" panose="02040502050405090303"/>
              </a:rPr>
              <a:t>Confidence overrides</a:t>
            </a:r>
            <a:endParaRPr sz="16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37960" y="548640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Low-confidence Stage 2 predictions can be overridden by stronger neighbors. Confident labels propagate downstream.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STAGE 3  ·  IN DETAIL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Every rule the refinement layer applies, in order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993392"/>
            <a:ext cx="329184" cy="329184"/>
          </a:xfrm>
          <a:prstGeom prst="ellipse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 panose="02040502050405090303"/>
              </a:rPr>
              <a:t>1</a:t>
            </a:r>
            <a:endParaRPr sz="14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1993392"/>
            <a:ext cx="4800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Subtree majority voting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Within each primary subtree (a child branch of the soma), aggregate Stage 2's per-branch predictions into one label per subtree, weighted by confidence.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400" y="2907792"/>
            <a:ext cx="329184" cy="329184"/>
          </a:xfrm>
          <a:prstGeom prst="ellipse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 panose="02040502050405090303"/>
              </a:rPr>
              <a:t>2</a:t>
            </a:r>
            <a:endParaRPr sz="14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2907792"/>
            <a:ext cx="4800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PCA-based apical picker (pyramidal only)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If multiple primary subtrees are tagged apical, the winner is the one whose mean projection on the cell's principal axis is largest. Losers are demoted to basal.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3822192"/>
            <a:ext cx="329184" cy="329184"/>
          </a:xfrm>
          <a:prstGeom prst="ellipse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 panose="02040502050405090303"/>
              </a:rPr>
              <a:t>3</a:t>
            </a:r>
            <a:endParaRPr sz="14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71600" y="3822192"/>
            <a:ext cx="4800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Single-apical enforcement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After PCA picking, only one primary subtree can carry the apical label. Remaining apical-tagged subtrees are reassigned to basal.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914400" y="4736592"/>
            <a:ext cx="329184" cy="329184"/>
          </a:xfrm>
          <a:prstGeom prst="ellipse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 panose="02040502050405090303"/>
              </a:rPr>
              <a:t>4</a:t>
            </a:r>
            <a:endParaRPr sz="14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71600" y="4736592"/>
            <a:ext cx="4800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Apical-owner constraint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Apical labels are only kept on branches inside the chosen apical-owner subtree. Stray apical predictions elsewhere are reset to basal.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914400" y="5650992"/>
            <a:ext cx="329184" cy="329184"/>
          </a:xfrm>
          <a:prstGeom prst="ellipse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 panose="02040502050405090303"/>
              </a:rPr>
              <a:t>5</a:t>
            </a:r>
            <a:endParaRPr sz="14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71600" y="5650992"/>
            <a:ext cx="4800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Parent–child smoothing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71600" y="594360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Walk along the tree and resolve label disagreements between a node and its parent using confidence weighting — this catches small flip-flops within long branches.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583680" y="1993392"/>
            <a:ext cx="329184" cy="329184"/>
          </a:xfrm>
          <a:prstGeom prst="ellipse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01168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 panose="02040502050405090303"/>
              </a:rPr>
              <a:t>6</a:t>
            </a:r>
            <a:endParaRPr sz="14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40880" y="1993392"/>
            <a:ext cx="4800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Island flipping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40880" y="228600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Find isolated runs of one label surrounded by a different label and flip them, if the surrounding label is more confident.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583680" y="2907792"/>
            <a:ext cx="329184" cy="329184"/>
          </a:xfrm>
          <a:prstGeom prst="ellipse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92608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 panose="02040502050405090303"/>
              </a:rPr>
              <a:t>7</a:t>
            </a:r>
            <a:endParaRPr sz="14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40880" y="2907792"/>
            <a:ext cx="4800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Soft subtree majority (final pass)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040880" y="320040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After all the above, run one more subtree-level vote with confidences smoothed across siblings. Stabilizes the final output.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583680" y="3822192"/>
            <a:ext cx="329184" cy="329184"/>
          </a:xfrm>
          <a:prstGeom prst="ellipse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84048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 panose="02040502050405090303"/>
              </a:rPr>
              <a:t>8</a:t>
            </a:r>
            <a:endParaRPr sz="14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40880" y="3822192"/>
            <a:ext cx="4800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Interneuron axon bias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40880" y="411480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For interneurons (no apical possible), bias borderline thin descending dendrite branches toward axon, which matches the morphology.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6583680" y="4736592"/>
            <a:ext cx="329184" cy="329184"/>
          </a:xfrm>
          <a:prstGeom prst="ellipse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75488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 panose="02040502050405090303"/>
              </a:rPr>
              <a:t>9</a:t>
            </a:r>
            <a:endParaRPr sz="14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40880" y="4736592"/>
            <a:ext cx="4800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Spurious soma cleanup</a:t>
            </a:r>
            <a:endParaRPr sz="12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040880" y="502920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41B2D"/>
                </a:solidFill>
                <a:latin typeface="Calibri"/>
              </a:rPr>
              <a:t>Strip any single-node soma labels that are not connected to the proxy soma, removing tracing artefacts.</a:t>
            </a:r>
            <a:endParaRPr sz="10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Rules apply in order, top to bottom. </a:t>
            </a:r>
            <a:endParaRPr sz="12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200" b="0" i="1">
                <a:solidFill>
                  <a:srgbClr val="141B2D"/>
                </a:solidFill>
                <a:latin typeface="Calibri"/>
              </a:rPr>
              <a:t>Each rule only changes labels when its evidence is stronger than what's already there.</a:t>
            </a:r>
            <a:endParaRPr sz="1200" b="0" i="1">
              <a:solidFill>
                <a:srgbClr val="141B2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HOW WE MEASURE SUCCESS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Reading a confusion matrix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What is it?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1206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41B2D"/>
                </a:solidFill>
                <a:latin typeface="Calibri"/>
              </a:rPr>
              <a:t>A table that compares </a:t>
            </a:r>
            <a:endParaRPr sz="13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300" b="1" i="0">
                <a:solidFill>
                  <a:srgbClr val="1B2A4E"/>
                </a:solidFill>
                <a:latin typeface="Calibri"/>
              </a:rPr>
              <a:t>ground truth</a:t>
            </a:r>
            <a:endParaRPr sz="13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141B2D"/>
                </a:solidFill>
                <a:latin typeface="Calibri"/>
              </a:rPr>
              <a:t> (what an expert labeled) against </a:t>
            </a:r>
            <a:endParaRPr sz="13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300" b="1" i="0">
                <a:solidFill>
                  <a:srgbClr val="1B2A4E"/>
                </a:solidFill>
                <a:latin typeface="Calibri"/>
              </a:rPr>
              <a:t>model predictions</a:t>
            </a:r>
            <a:endParaRPr sz="13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141B2D"/>
                </a:solidFill>
                <a:latin typeface="Calibri"/>
              </a:rPr>
              <a:t>.  Rows = the truth.  Columns = what the model said.</a:t>
            </a:r>
            <a:endParaRPr sz="1300" b="0" i="0">
              <a:solidFill>
                <a:srgbClr val="141B2D"/>
              </a:solidFill>
              <a:latin typeface="Calibri"/>
            </a:endParaRPr>
          </a:p>
          <a:p>
            <a:pPr algn="l"/>
          </a:p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Diagonal cells = correct. Off-diagonal cells = mistakes — the column tells you </a:t>
            </a:r>
            <a:endParaRPr sz="12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200" b="1" i="0">
                <a:solidFill>
                  <a:srgbClr val="141B2D"/>
                </a:solidFill>
                <a:latin typeface="Calibri"/>
              </a:rPr>
              <a:t>which kind of mistake.</a:t>
            </a:r>
            <a:endParaRPr sz="1200" b="1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Reading the example →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230,241 apical points correctly labeled apical.</a:t>
            </a:r>
            <a:endParaRPr sz="12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5,102 true apical points were called basal.</a:t>
            </a:r>
            <a:endParaRPr sz="12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14,199 true basal points were called apical.</a:t>
            </a:r>
            <a:endParaRPr sz="12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200" b="1" i="1">
                <a:solidFill>
                  <a:srgbClr val="E07856"/>
                </a:solidFill>
                <a:latin typeface="Calibri"/>
              </a:rPr>
              <a:t>These two off-diagonals are our remaining bottleneck.</a:t>
            </a:r>
            <a:endParaRPr sz="1200" b="1" i="1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63840" y="14630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MODEL PREDICTED →</a:t>
            </a:r>
            <a:endParaRPr sz="10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0" y="18288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B2A4E"/>
                </a:solidFill>
                <a:latin typeface="Calibri"/>
              </a:rPr>
              <a:t>soma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32520" y="18288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B2A4E"/>
                </a:solidFill>
                <a:latin typeface="Calibri"/>
              </a:rPr>
              <a:t>axon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0" y="18288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B2A4E"/>
                </a:solidFill>
                <a:latin typeface="Calibri"/>
              </a:rPr>
              <a:t>basal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69880" y="18288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B2A4E"/>
                </a:solidFill>
                <a:latin typeface="Calibri"/>
              </a:rPr>
              <a:t>apical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5040" y="347472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Calibri"/>
              </a:rPr>
              <a:t>TRUTH ↓</a:t>
            </a:r>
            <a:endParaRPr sz="10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95160" y="233172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B2A4E"/>
                </a:solidFill>
                <a:latin typeface="Calibri"/>
              </a:rPr>
              <a:t>soma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863840" y="2103120"/>
            <a:ext cx="868680" cy="777240"/>
          </a:xfrm>
          <a:prstGeom prst="rect">
            <a:avLst/>
          </a:prstGeom>
          <a:solidFill>
            <a:srgbClr val="7BA382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26771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328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32520" y="2103120"/>
            <a:ext cx="868680" cy="777240"/>
          </a:xfrm>
          <a:prstGeom prst="rect">
            <a:avLst/>
          </a:prstGeom>
          <a:solidFill>
            <a:srgbClr val="FAF6EE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26771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0</a:t>
            </a:r>
            <a:endParaRPr sz="12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601200" y="2103120"/>
            <a:ext cx="868680" cy="777240"/>
          </a:xfrm>
          <a:prstGeom prst="rect">
            <a:avLst/>
          </a:prstGeom>
          <a:solidFill>
            <a:srgbClr val="FAF6EE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26771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0</a:t>
            </a:r>
            <a:endParaRPr sz="12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469880" y="2103120"/>
            <a:ext cx="868680" cy="777240"/>
          </a:xfrm>
          <a:prstGeom prst="rect">
            <a:avLst/>
          </a:prstGeom>
          <a:solidFill>
            <a:srgbClr val="FAF6EE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226771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0</a:t>
            </a:r>
            <a:endParaRPr sz="12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95160" y="310896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B2A4E"/>
                </a:solidFill>
                <a:latin typeface="Calibri"/>
              </a:rPr>
              <a:t>axon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863840" y="2880360"/>
            <a:ext cx="868680" cy="777240"/>
          </a:xfrm>
          <a:prstGeom prst="rect">
            <a:avLst/>
          </a:prstGeom>
          <a:solidFill>
            <a:srgbClr val="FAF6EE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304495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0</a:t>
            </a:r>
            <a:endParaRPr sz="12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32520" y="2880360"/>
            <a:ext cx="868680" cy="777240"/>
          </a:xfrm>
          <a:prstGeom prst="rect">
            <a:avLst/>
          </a:prstGeom>
          <a:solidFill>
            <a:srgbClr val="7BA382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304495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4.36M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601200" y="2880360"/>
            <a:ext cx="868680" cy="777240"/>
          </a:xfrm>
          <a:prstGeom prst="rect">
            <a:avLst/>
          </a:prstGeom>
          <a:solidFill>
            <a:srgbClr val="C96F6A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304495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3k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0469880" y="2880360"/>
            <a:ext cx="868680" cy="777240"/>
          </a:xfrm>
          <a:prstGeom prst="rect">
            <a:avLst/>
          </a:prstGeom>
          <a:solidFill>
            <a:srgbClr val="C96F6A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69880" y="304495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1k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95160" y="388620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B2A4E"/>
                </a:solidFill>
                <a:latin typeface="Calibri"/>
              </a:rPr>
              <a:t>basal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863840" y="3657600"/>
            <a:ext cx="868680" cy="777240"/>
          </a:xfrm>
          <a:prstGeom prst="rect">
            <a:avLst/>
          </a:prstGeom>
          <a:solidFill>
            <a:srgbClr val="FAF6EE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38221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0</a:t>
            </a:r>
            <a:endParaRPr sz="12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732520" y="3657600"/>
            <a:ext cx="868680" cy="777240"/>
          </a:xfrm>
          <a:prstGeom prst="rect">
            <a:avLst/>
          </a:prstGeom>
          <a:solidFill>
            <a:srgbClr val="C96F6A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38221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10k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601200" y="3657600"/>
            <a:ext cx="868680" cy="777240"/>
          </a:xfrm>
          <a:prstGeom prst="rect">
            <a:avLst/>
          </a:prstGeom>
          <a:solidFill>
            <a:srgbClr val="7BA382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38221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543k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469880" y="3657600"/>
            <a:ext cx="868680" cy="777240"/>
          </a:xfrm>
          <a:prstGeom prst="rect">
            <a:avLst/>
          </a:prstGeom>
          <a:solidFill>
            <a:srgbClr val="C96F6A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69880" y="38221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14k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95160" y="466344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B2A4E"/>
                </a:solidFill>
                <a:latin typeface="Calibri"/>
              </a:rPr>
              <a:t>apical</a:t>
            </a:r>
            <a:endParaRPr sz="1100" b="1" i="0">
              <a:solidFill>
                <a:srgbClr val="1B2A4E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863840" y="4434840"/>
            <a:ext cx="868680" cy="777240"/>
          </a:xfrm>
          <a:prstGeom prst="rect">
            <a:avLst/>
          </a:prstGeom>
          <a:solidFill>
            <a:srgbClr val="FAF6EE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459943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0</a:t>
            </a:r>
            <a:endParaRPr sz="12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732520" y="4434840"/>
            <a:ext cx="868680" cy="777240"/>
          </a:xfrm>
          <a:prstGeom prst="rect">
            <a:avLst/>
          </a:prstGeom>
          <a:solidFill>
            <a:srgbClr val="C96F6A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32520" y="459943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11k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601200" y="4434840"/>
            <a:ext cx="868680" cy="777240"/>
          </a:xfrm>
          <a:prstGeom prst="rect">
            <a:avLst/>
          </a:prstGeom>
          <a:solidFill>
            <a:srgbClr val="C96F6A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459943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5k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0469880" y="4434840"/>
            <a:ext cx="868680" cy="777240"/>
          </a:xfrm>
          <a:prstGeom prst="rect">
            <a:avLst/>
          </a:prstGeom>
          <a:solidFill>
            <a:srgbClr val="7BA382"/>
          </a:solidFill>
          <a:ln w="9525">
            <a:solidFill>
              <a:srgbClr val="D9D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69880" y="459943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230k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863840" y="5486400"/>
            <a:ext cx="228600" cy="228600"/>
          </a:xfrm>
          <a:prstGeom prst="rect">
            <a:avLst/>
          </a:prstGeom>
          <a:solidFill>
            <a:srgbClr val="7BA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80" y="54864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correct</a:t>
            </a:r>
            <a:endParaRPr sz="11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418320" y="5486400"/>
            <a:ext cx="228600" cy="228600"/>
          </a:xfrm>
          <a:prstGeom prst="rect">
            <a:avLst/>
          </a:prstGeom>
          <a:solidFill>
            <a:srgbClr val="C9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38359" y="54864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41B2D"/>
                </a:solidFill>
                <a:latin typeface="Calibri"/>
              </a:rPr>
              <a:t>mistake</a:t>
            </a:r>
            <a:endParaRPr sz="1100" b="0" i="0">
              <a:solidFill>
                <a:srgbClr val="141B2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KEY TERMS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Three numbers we use to score the model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657600" cy="9144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B2A4E"/>
                </a:solidFill>
                <a:latin typeface="Georgia" panose="02040502050405090303"/>
              </a:rPr>
              <a:t>Precision</a:t>
            </a:r>
            <a:endParaRPr sz="28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E07856"/>
                </a:solidFill>
                <a:latin typeface="Georgia" panose="02040502050405090303"/>
              </a:rPr>
              <a:t>When we say apical, are we right?</a:t>
            </a:r>
            <a:endParaRPr sz="1500" b="0" i="1">
              <a:solidFill>
                <a:srgbClr val="E07856"/>
              </a:solidFill>
              <a:latin typeface="Georgia" panose="0204050205040509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1089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Of all the points the model labeled apical, what fraction are actually apical?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4400" y="5120640"/>
            <a:ext cx="3108960" cy="18288"/>
          </a:xfrm>
          <a:prstGeom prst="rect">
            <a:avLst/>
          </a:prstGeom>
          <a:solidFill>
            <a:srgbClr val="D9D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1">
                <a:solidFill>
                  <a:srgbClr val="E07856"/>
                </a:solidFill>
                <a:latin typeface="Calibri"/>
              </a:rPr>
              <a:t>High precision → few false alarms</a:t>
            </a:r>
            <a:endParaRPr sz="1100" b="1" i="1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28800"/>
            <a:ext cx="3657600" cy="91440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1031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B2A4E"/>
                </a:solidFill>
                <a:latin typeface="Georgia" panose="02040502050405090303"/>
              </a:rPr>
              <a:t>Recall</a:t>
            </a:r>
            <a:endParaRPr sz="28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09160" y="28346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4A7C7E"/>
                </a:solidFill>
                <a:latin typeface="Georgia" panose="02040502050405090303"/>
              </a:rPr>
              <a:t>Did we catch all the real apicals?</a:t>
            </a:r>
            <a:endParaRPr sz="1500" b="0" i="1">
              <a:solidFill>
                <a:srgbClr val="4A7C7E"/>
              </a:solidFill>
              <a:latin typeface="Georgia" panose="0204050205040509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09160" y="3566160"/>
            <a:ext cx="31089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Of all the points that are truly apical, what fraction did the model find?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09160" y="5120640"/>
            <a:ext cx="3108960" cy="18288"/>
          </a:xfrm>
          <a:prstGeom prst="rect">
            <a:avLst/>
          </a:prstGeom>
          <a:solidFill>
            <a:srgbClr val="D9D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52120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1">
                <a:solidFill>
                  <a:srgbClr val="4A7C7E"/>
                </a:solidFill>
                <a:latin typeface="Calibri"/>
              </a:rPr>
              <a:t>High recall → few missed apicals</a:t>
            </a:r>
            <a:endParaRPr sz="1100" b="1" i="1">
              <a:solidFill>
                <a:srgbClr val="4A7C7E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28800"/>
            <a:ext cx="3657600" cy="91440"/>
          </a:xfrm>
          <a:prstGeom prst="rect">
            <a:avLst/>
          </a:prstGeom>
          <a:solidFill>
            <a:srgbClr val="C9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1031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B2A4E"/>
                </a:solidFill>
                <a:latin typeface="Georgia" panose="02040502050405090303"/>
              </a:rPr>
              <a:t>F1 score</a:t>
            </a:r>
            <a:endParaRPr sz="28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03920" y="28346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C99A3E"/>
                </a:solidFill>
                <a:latin typeface="Georgia" panose="02040502050405090303"/>
              </a:rPr>
              <a:t>A balance of the two</a:t>
            </a:r>
            <a:endParaRPr sz="1500" b="0" i="1">
              <a:solidFill>
                <a:srgbClr val="C99A3E"/>
              </a:solidFill>
              <a:latin typeface="Georgia" panose="020405020504050903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03920" y="3566160"/>
            <a:ext cx="31089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A single score (0 to 1) that combines precision and recall. We use F1 because either alone can be gamed.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503920" y="5120640"/>
            <a:ext cx="3108960" cy="18288"/>
          </a:xfrm>
          <a:prstGeom prst="rect">
            <a:avLst/>
          </a:prstGeom>
          <a:solidFill>
            <a:srgbClr val="D9D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52120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1">
                <a:solidFill>
                  <a:srgbClr val="C99A3E"/>
                </a:solidFill>
                <a:latin typeface="Calibri"/>
              </a:rPr>
              <a:t>F1 = 1 means perfect labeling</a:t>
            </a:r>
            <a:endParaRPr sz="1100" b="1" i="1">
              <a:solidFill>
                <a:srgbClr val="C99A3E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593217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TWO WAYS WE AVERAGE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6125845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Pooled F1: </a:t>
            </a:r>
            <a:endParaRPr sz="12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treats every point in the dataset equally — bigger cells contribute more.   </a:t>
            </a:r>
            <a:endParaRPr sz="1200" b="0" i="0">
              <a:solidFill>
                <a:srgbClr val="141B2D"/>
              </a:solidFill>
              <a:latin typeface="Calibri"/>
            </a:endParaRPr>
          </a:p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Per-file F1: </a:t>
            </a:r>
            <a:endParaRPr sz="1200" b="1" i="0">
              <a:solidFill>
                <a:srgbClr val="1B2A4E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141B2D"/>
                </a:solidFill>
                <a:latin typeface="Calibri"/>
              </a:rPr>
              <a:t>scores each cell separately, then averages — every cell counts the same.</a:t>
            </a:r>
            <a:endParaRPr sz="1200" b="0" i="0">
              <a:solidFill>
                <a:srgbClr val="141B2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LATEST RESULTS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2A4E"/>
                </a:solidFill>
                <a:latin typeface="Georgia" panose="02040502050405090303"/>
              </a:rPr>
              <a:t>How the pipeline performs today</a:t>
            </a:r>
            <a:endParaRPr sz="30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606040" cy="9144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B2A4E"/>
                </a:solidFill>
                <a:latin typeface="Georgia" panose="02040502050405090303"/>
              </a:rPr>
              <a:t>0.992</a:t>
            </a:r>
            <a:endParaRPr sz="36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41B2D"/>
                </a:solidFill>
                <a:latin typeface="Calibri"/>
              </a:rPr>
              <a:t>overall accuracy</a:t>
            </a:r>
            <a:endParaRPr sz="1200" b="1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fraction of all points correct</a:t>
            </a:r>
            <a:endParaRPr sz="100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29000" y="182880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2606040" cy="9144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057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B2A4E"/>
                </a:solidFill>
                <a:latin typeface="Georgia" panose="02040502050405090303"/>
              </a:rPr>
              <a:t>0.976</a:t>
            </a:r>
            <a:endParaRPr sz="36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0" y="2697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41B2D"/>
                </a:solidFill>
                <a:latin typeface="Calibri"/>
              </a:rPr>
              <a:t>F1 (pooled)</a:t>
            </a:r>
            <a:endParaRPr sz="1200" b="1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0" y="29718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weighted across all points</a:t>
            </a:r>
            <a:endParaRPr sz="100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606040" cy="9144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57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B2A4E"/>
                </a:solidFill>
                <a:latin typeface="Georgia" panose="02040502050405090303"/>
              </a:rPr>
              <a:t>0.963</a:t>
            </a:r>
            <a:endParaRPr sz="36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46520" y="2697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41B2D"/>
                </a:solidFill>
                <a:latin typeface="Calibri"/>
              </a:rPr>
              <a:t>F1 (per-file mean)</a:t>
            </a:r>
            <a:endParaRPr sz="1200" b="1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6520" y="29718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averaged across cells equally</a:t>
            </a:r>
            <a:endParaRPr sz="100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06840" y="1828800"/>
            <a:ext cx="26060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828800"/>
            <a:ext cx="2606040" cy="9144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057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B2A4E"/>
                </a:solidFill>
                <a:latin typeface="Georgia" panose="02040502050405090303"/>
              </a:rPr>
              <a:t>0.94</a:t>
            </a:r>
            <a:endParaRPr sz="3600" b="1" i="0">
              <a:solidFill>
                <a:srgbClr val="1B2A4E"/>
              </a:solidFill>
              <a:latin typeface="Georgia" panose="020405020504050903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35440" y="2697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41B2D"/>
                </a:solidFill>
                <a:latin typeface="Calibri"/>
              </a:rPr>
              <a:t>F1 (apical)</a:t>
            </a:r>
            <a:endParaRPr sz="1200" b="1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35440" y="29718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the bottleneck class</a:t>
            </a:r>
            <a:endParaRPr sz="100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7856"/>
                </a:solidFill>
                <a:latin typeface="Calibri"/>
              </a:rPr>
              <a:t>PER-CLASS F1</a:t>
            </a:r>
            <a:endParaRPr sz="11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377440" y="5989320"/>
            <a:ext cx="7680960" cy="18288"/>
          </a:xfrm>
          <a:prstGeom prst="rect">
            <a:avLst/>
          </a:prstGeom>
          <a:solidFill>
            <a:srgbClr val="D9D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40" y="5989320"/>
            <a:ext cx="18288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61081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0.85</a:t>
            </a:r>
            <a:endParaRPr sz="10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937760" y="5989320"/>
            <a:ext cx="18288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61081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0.90</a:t>
            </a:r>
            <a:endParaRPr sz="10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498079" y="5989320"/>
            <a:ext cx="18288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59" y="61081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0.95</a:t>
            </a:r>
            <a:endParaRPr sz="10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058400" y="5989320"/>
            <a:ext cx="18288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61081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1.00</a:t>
            </a:r>
            <a:endParaRPr sz="10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141B2D"/>
                </a:solidFill>
                <a:latin typeface="Calibri"/>
              </a:rPr>
              <a:t>Soma</a:t>
            </a:r>
            <a:endParaRPr sz="1400" b="1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377440" y="4050792"/>
            <a:ext cx="7680960" cy="256032"/>
          </a:xfrm>
          <a:prstGeom prst="rect">
            <a:avLst/>
          </a:prstGeom>
          <a:solidFill>
            <a:srgbClr val="D9D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77440" y="4050792"/>
            <a:ext cx="7680960" cy="256032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4005072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41B2D"/>
                </a:solidFill>
                <a:latin typeface="Calibri"/>
              </a:rPr>
              <a:t>1.000</a:t>
            </a:r>
            <a:endParaRPr sz="1300" b="1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0080" y="4507992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141B2D"/>
                </a:solidFill>
                <a:latin typeface="Calibri"/>
              </a:rPr>
              <a:t>Axon</a:t>
            </a:r>
            <a:endParaRPr sz="1400" b="1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377440" y="4553712"/>
            <a:ext cx="7680960" cy="256032"/>
          </a:xfrm>
          <a:prstGeom prst="rect">
            <a:avLst/>
          </a:prstGeom>
          <a:solidFill>
            <a:srgbClr val="D9D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77440" y="4553712"/>
            <a:ext cx="7527340" cy="256032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96220" y="4507992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41B2D"/>
                </a:solidFill>
                <a:latin typeface="Calibri"/>
              </a:rPr>
              <a:t>0.997</a:t>
            </a:r>
            <a:endParaRPr sz="1300" b="1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" y="5010912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141B2D"/>
                </a:solidFill>
                <a:latin typeface="Calibri"/>
              </a:rPr>
              <a:t>Basal</a:t>
            </a:r>
            <a:endParaRPr sz="1400" b="1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377440" y="5056632"/>
            <a:ext cx="7680960" cy="256032"/>
          </a:xfrm>
          <a:prstGeom prst="rect">
            <a:avLst/>
          </a:prstGeom>
          <a:solidFill>
            <a:srgbClr val="D9D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77440" y="5056632"/>
            <a:ext cx="6247180" cy="256032"/>
          </a:xfrm>
          <a:prstGeom prst="rect">
            <a:avLst/>
          </a:prstGeom>
          <a:solidFill>
            <a:srgbClr val="4A7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16060" y="5010912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41B2D"/>
                </a:solidFill>
                <a:latin typeface="Calibri"/>
              </a:rPr>
              <a:t>0.972</a:t>
            </a:r>
            <a:endParaRPr sz="1300" b="1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0080" y="5513832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141B2D"/>
                </a:solidFill>
                <a:latin typeface="Calibri"/>
              </a:rPr>
              <a:t>Apical</a:t>
            </a:r>
            <a:endParaRPr sz="1400" b="1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377440" y="5559552"/>
            <a:ext cx="7680960" cy="256032"/>
          </a:xfrm>
          <a:prstGeom prst="rect">
            <a:avLst/>
          </a:prstGeom>
          <a:solidFill>
            <a:srgbClr val="D9D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377440" y="5559552"/>
            <a:ext cx="4454956" cy="256032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23836" y="5513832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41B2D"/>
                </a:solidFill>
                <a:latin typeface="Calibri"/>
              </a:rPr>
              <a:t>0.937</a:t>
            </a:r>
            <a:endParaRPr sz="1300" b="1" i="0">
              <a:solidFill>
                <a:srgbClr val="141B2D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40080" y="6355080"/>
            <a:ext cx="10972800" cy="36576"/>
          </a:xfrm>
          <a:prstGeom prst="rect">
            <a:avLst/>
          </a:prstGeom>
          <a:solidFill>
            <a:srgbClr val="D9D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07856"/>
                </a:solidFill>
                <a:latin typeface="Calibri"/>
              </a:rPr>
              <a:t>Takeaway: </a:t>
            </a:r>
            <a:endParaRPr sz="1300" b="1" i="0">
              <a:solidFill>
                <a:srgbClr val="E07856"/>
              </a:solidFill>
              <a:latin typeface="Calibri"/>
            </a:endParaRPr>
          </a:p>
          <a:p>
            <a:pPr algn="l"/>
            <a:r>
              <a:rPr sz="1300" b="0" i="1">
                <a:solidFill>
                  <a:srgbClr val="1B2A4E"/>
                </a:solidFill>
                <a:latin typeface="Calibri"/>
              </a:rPr>
              <a:t>Soma and axon are essentially solved. Apical and basal — both dendrites — are the remaining work.</a:t>
            </a:r>
            <a:endParaRPr sz="1300" b="0" i="1">
              <a:solidFill>
                <a:srgbClr val="1B2A4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07856"/>
                </a:solidFill>
                <a:latin typeface="Calibri"/>
              </a:rPr>
              <a:t>WHAT'S NEXT</a:t>
            </a:r>
            <a:endParaRPr sz="1200" b="1" i="0">
              <a:solidFill>
                <a:srgbClr val="E0785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 panose="02040502050405090303"/>
              </a:rPr>
              <a:t>Closing the apical gap</a:t>
            </a:r>
            <a:endParaRPr sz="44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5" name="Oval 4"/>
          <p:cNvSpPr/>
          <p:nvPr/>
        </p:nvSpPr>
        <p:spPr>
          <a:xfrm>
            <a:off x="822960" y="3291840"/>
            <a:ext cx="411480" cy="411480"/>
          </a:xfrm>
          <a:prstGeom prst="ellipse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31927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 panose="02040502050405090303"/>
              </a:rPr>
              <a:t>1</a:t>
            </a:r>
            <a:endParaRPr sz="20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32004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 panose="02040502050405090303"/>
              </a:rPr>
              <a:t>Trunk-detection features</a:t>
            </a:r>
            <a:endParaRPr sz="18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3566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F4EFE6"/>
                </a:solidFill>
                <a:latin typeface="Calibri"/>
              </a:rPr>
              <a:t>Apical = one dominant trunk before branching. Basal = bushy from the start. Add features that capture trunk length and dominance directly.</a:t>
            </a:r>
            <a:endParaRPr sz="1200" b="0" i="1">
              <a:solidFill>
                <a:srgbClr val="F4EFE6"/>
              </a:solidFill>
              <a:latin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822960" y="4160520"/>
            <a:ext cx="411480" cy="411480"/>
          </a:xfrm>
          <a:prstGeom prst="ellipse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8795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 panose="02040502050405090303"/>
              </a:rPr>
              <a:t>2</a:t>
            </a:r>
            <a:endParaRPr sz="20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3040" y="406908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 panose="02040502050405090303"/>
              </a:rPr>
              <a:t>Dedicated apical-vs-basal head</a:t>
            </a:r>
            <a:endParaRPr sz="18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63040" y="4434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F4EFE6"/>
                </a:solidFill>
                <a:latin typeface="Calibri"/>
              </a:rPr>
              <a:t>Specialize a smaller model on just the dendrite-vs-dendrite decision, with features that target that specific contrast.</a:t>
            </a:r>
            <a:endParaRPr sz="1200" b="0" i="1">
              <a:solidFill>
                <a:srgbClr val="F4EFE6"/>
              </a:solidFill>
              <a:latin typeface="Calibri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22960" y="5029200"/>
            <a:ext cx="411480" cy="411480"/>
          </a:xfrm>
          <a:prstGeom prst="ellipse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05663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 panose="02040502050405090303"/>
              </a:rPr>
              <a:t>3</a:t>
            </a:r>
            <a:endParaRPr sz="20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63040" y="493776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 panose="02040502050405090303"/>
              </a:rPr>
              <a:t>Handle remaining edge cases</a:t>
            </a:r>
            <a:endParaRPr sz="1800" b="1" i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63040" y="53035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F4EFE6"/>
                </a:solidFill>
                <a:latin typeface="Calibri"/>
              </a:rPr>
              <a:t>After dataset cleanup, the worst-scoring files are atypical-but-valid morphology, plus rare cases like z-axis-inverted reconstructions worth flagging at load time.</a:t>
            </a:r>
            <a:endParaRPr sz="1200" b="0" i="1">
              <a:solidFill>
                <a:srgbClr val="F4EFE6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22960" y="6309360"/>
            <a:ext cx="10515600" cy="36576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E07856"/>
                </a:solidFill>
                <a:latin typeface="Georgia" panose="02040502050405090303"/>
              </a:rPr>
              <a:t>Goal: lift apical F1 from 0.94 to ≥ 0.95 — and produce a labeling tool the field can rely on.</a:t>
            </a:r>
            <a:endParaRPr sz="1400" b="0" i="1">
              <a:solidFill>
                <a:srgbClr val="E07856"/>
              </a:solidFill>
              <a:latin typeface="Georgia" panose="020405020504050903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11683</Words>
  <Application>WPS Presentation</Application>
  <PresentationFormat>On-screen Show (4:3)</PresentationFormat>
  <Paragraphs>589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Helvetica Neue</vt:lpstr>
      <vt:lpstr>Georgia</vt:lpstr>
      <vt:lpstr>Consolas</vt:lpstr>
      <vt:lpstr>Microsoft YaHei</vt:lpstr>
      <vt:lpstr>汉仪旗黑</vt:lpstr>
      <vt:lpstr>Arial Unicode MS</vt:lpstr>
      <vt:lpstr>Thonburi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WPS_1755964011</cp:lastModifiedBy>
  <cp:revision>3</cp:revision>
  <dcterms:created xsi:type="dcterms:W3CDTF">2026-04-30T00:46:54Z</dcterms:created>
  <dcterms:modified xsi:type="dcterms:W3CDTF">2026-04-30T00:46:54Z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8082C1819E0E7D64BB7FF2693120B27D_42</vt:lpwstr>
  </property>
  <property fmtid="{D5CDD505-2E9C-101B-9397-08002B2CF9AE}" pid="3" name="KSOProductBuildVer">
    <vt:lpwstr>1033-12.1.23152.23152</vt:lpwstr>
  </property>
</Properties>
</file>